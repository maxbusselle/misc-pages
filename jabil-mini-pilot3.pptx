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Plus Jakarta Sans ExtraBold"/>
      <p:bold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tSKoNukRgx+PUy6ZiSMCbyRmB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usJakartaSansExtraBold-bold.fntdata"/><Relationship Id="rId16" Type="http://schemas.openxmlformats.org/officeDocument/2006/relationships/slide" Target="slides/slide12.xml"/><Relationship Id="rId19" Type="http://schemas.openxmlformats.org/officeDocument/2006/relationships/font" Target="fonts/PlusJakartaSans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WjkHsmn9ZMsPCOcpEgHv5IRgUTPKwwx8/view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drive.google.com/file/d/1bF07BDzBHIJNOeaLnZy_qe4C-8aXyw1-/view" TargetMode="External"/><Relationship Id="rId6" Type="http://schemas.openxmlformats.org/officeDocument/2006/relationships/image" Target="../media/image3.jp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66925" y="2414078"/>
            <a:ext cx="63093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5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Jabil</a:t>
            </a:r>
            <a:r>
              <a:rPr b="0" i="0" lang="en-US" sz="1300" u="none" cap="none" strike="noStrike">
                <a:solidFill>
                  <a:srgbClr val="C7CFD8"/>
                </a:solidFill>
                <a:latin typeface="DM Sans"/>
                <a:ea typeface="DM Sans"/>
                <a:cs typeface="DM Sans"/>
                <a:sym typeface="DM Sans"/>
              </a:rPr>
              <a:t>   |    </a:t>
            </a:r>
            <a:r>
              <a:rPr b="0" i="0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Flint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66925" y="2789918"/>
            <a:ext cx="63093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4400"/>
              <a:buFont typeface="Plus Jakarta Sans ExtraBold"/>
              <a:buNone/>
            </a:pPr>
            <a:r>
              <a:rPr b="0" i="0" lang="en-US" sz="44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Understa</a:t>
            </a:r>
            <a:r>
              <a:rPr lang="en-US" sz="4400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nding </a:t>
            </a:r>
            <a:r>
              <a:rPr b="0" i="0" lang="en-US" sz="44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Downtime </a:t>
            </a:r>
            <a:r>
              <a:rPr lang="en-US" sz="4400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</a:t>
            </a:r>
            <a:r>
              <a:rPr b="0" i="0" lang="en-US" sz="44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auses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66928" y="4517202"/>
            <a:ext cx="630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000"/>
              <a:buFont typeface="Plus Jakarta Sans"/>
              <a:buNone/>
            </a:pPr>
            <a:r>
              <a:rPr b="1" i="0" lang="en-US" sz="1000" u="none" cap="none" strike="noStrike">
                <a:solidFill>
                  <a:srgbClr val="5B6A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SEVEN-DAY MINI PILOT 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66928" y="4873818"/>
            <a:ext cx="630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C7CFD8"/>
                </a:solidFill>
                <a:latin typeface="DM Sans"/>
                <a:ea typeface="DM Sans"/>
                <a:cs typeface="DM Sans"/>
                <a:sym typeface="DM Sans"/>
              </a:rPr>
              <a:t>For shift supervisors and their managers.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7498080" y="2075688"/>
            <a:ext cx="41238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 txBox="1"/>
          <p:nvPr/>
        </p:nvSpPr>
        <p:spPr>
          <a:xfrm>
            <a:off x="7498080" y="2240280"/>
            <a:ext cx="45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C7C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001000" y="2221992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Flint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7498080" y="2752344"/>
            <a:ext cx="41238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 txBox="1"/>
          <p:nvPr/>
        </p:nvSpPr>
        <p:spPr>
          <a:xfrm>
            <a:off x="7498080" y="2916936"/>
            <a:ext cx="45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C7C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8001000" y="2898648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mini pilot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7498080" y="3429000"/>
            <a:ext cx="41238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 txBox="1"/>
          <p:nvPr/>
        </p:nvSpPr>
        <p:spPr>
          <a:xfrm>
            <a:off x="7498080" y="3593592"/>
            <a:ext cx="45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C7CF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8001000" y="3575304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7498080" y="4105656"/>
            <a:ext cx="41238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7498080" y="4782312"/>
            <a:ext cx="41238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 txBox="1"/>
          <p:nvPr/>
        </p:nvSpPr>
        <p:spPr>
          <a:xfrm>
            <a:off x="8001000" y="4257431"/>
            <a:ext cx="362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abil-logo.png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502920"/>
            <a:ext cx="1554480" cy="2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/>
        </p:nvSpPr>
        <p:spPr>
          <a:xfrm>
            <a:off x="566928" y="2148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66928" y="25603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5200"/>
              <a:buFont typeface="Plus Jakarta Sans ExtraBold"/>
              <a:buNone/>
            </a:pPr>
            <a:r>
              <a:rPr b="0" i="0" lang="en-US" sz="52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Flint tool.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66928" y="4114800"/>
            <a:ext cx="9966960" cy="451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Behavior change in the flow of work, in under nine minutes a week.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566928" y="460248"/>
            <a:ext cx="11064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300"/>
              <a:buFont typeface="Plus Jakarta Sans"/>
              <a:buNone/>
            </a:pPr>
            <a:r>
              <a:rPr b="1" i="0" lang="en-US" sz="33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activity a week, run on shift, and </a:t>
            </a:r>
            <a:r>
              <a:rPr b="1" i="0" lang="en-US" sz="33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coached until it sticks.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236976" y="1548384"/>
            <a:ext cx="2148900" cy="1737300"/>
          </a:xfrm>
          <a:prstGeom prst="roundRect">
            <a:avLst>
              <a:gd fmla="val 4211" name="adj"/>
            </a:avLst>
          </a:prstGeom>
          <a:solidFill>
            <a:srgbClr val="F2F5F8"/>
          </a:solidFill>
          <a:ln cap="flat" cmpd="sng" w="19050">
            <a:solidFill>
              <a:srgbClr val="E8F1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146804" y="1383792"/>
            <a:ext cx="329100" cy="329100"/>
          </a:xfrm>
          <a:prstGeom prst="ellipse">
            <a:avLst/>
          </a:prstGeom>
          <a:solidFill>
            <a:srgbClr val="013765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4146804" y="1438656"/>
            <a:ext cx="32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3346704" y="1853184"/>
            <a:ext cx="192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Flint activity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3374136" y="2365248"/>
            <a:ext cx="1874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A short task targeting one behavior, tied to the line’s standard work.</a:t>
            </a:r>
            <a:endParaRPr b="0" i="0" sz="11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379976" y="3596640"/>
            <a:ext cx="2011800" cy="1792200"/>
          </a:xfrm>
          <a:prstGeom prst="roundRect">
            <a:avLst>
              <a:gd fmla="val 4082" name="adj"/>
            </a:avLst>
          </a:prstGeom>
          <a:solidFill>
            <a:srgbClr val="F2F5F8"/>
          </a:solidFill>
          <a:ln cap="flat" cmpd="sng" w="19050">
            <a:solidFill>
              <a:srgbClr val="E8F1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221224" y="3432048"/>
            <a:ext cx="329100" cy="329100"/>
          </a:xfrm>
          <a:prstGeom prst="ellipse">
            <a:avLst/>
          </a:prstGeom>
          <a:solidFill>
            <a:srgbClr val="013765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5221224" y="3486912"/>
            <a:ext cx="32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4489704" y="3901440"/>
            <a:ext cx="1792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On-the-floor 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4517136" y="4489704"/>
            <a:ext cx="17373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The supervisor runs it at their next real downtime event or shift report.</a:t>
            </a:r>
            <a:endParaRPr b="0" i="0" sz="11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865376" y="3596640"/>
            <a:ext cx="2011800" cy="1792200"/>
          </a:xfrm>
          <a:prstGeom prst="roundRect">
            <a:avLst>
              <a:gd fmla="val 4082" name="adj"/>
            </a:avLst>
          </a:prstGeom>
          <a:solidFill>
            <a:srgbClr val="F2F5F8"/>
          </a:solidFill>
          <a:ln cap="flat" cmpd="sng" w="19050">
            <a:solidFill>
              <a:srgbClr val="E8F1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06624" y="3432048"/>
            <a:ext cx="329100" cy="329100"/>
          </a:xfrm>
          <a:prstGeom prst="ellipse">
            <a:avLst/>
          </a:prstGeom>
          <a:solidFill>
            <a:srgbClr val="013765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706624" y="3486912"/>
            <a:ext cx="32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us Jakarta Sa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975104" y="3901440"/>
            <a:ext cx="1792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Log, manager validates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935957" y="4489700"/>
            <a:ext cx="1874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They report what happened; the manager confirms it matches what they saw.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00"/>
              <a:buFont typeface="DM Sans"/>
              <a:buNone/>
            </a:pPr>
            <a:r>
              <a:t/>
            </a:r>
            <a:endParaRPr b="0" i="0" sz="12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5470061" y="2974819"/>
            <a:ext cx="502800" cy="457200"/>
          </a:xfrm>
          <a:prstGeom prst="straightConnector1">
            <a:avLst/>
          </a:prstGeom>
          <a:noFill/>
          <a:ln cap="flat" cmpd="sng" w="28575">
            <a:solidFill>
              <a:srgbClr val="0E7C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64" name="Google Shape;64;p3"/>
          <p:cNvCxnSpPr/>
          <p:nvPr/>
        </p:nvCxnSpPr>
        <p:spPr>
          <a:xfrm>
            <a:off x="3922776" y="4373880"/>
            <a:ext cx="411600" cy="0"/>
          </a:xfrm>
          <a:prstGeom prst="straightConnector1">
            <a:avLst/>
          </a:prstGeom>
          <a:noFill/>
          <a:ln cap="flat" cmpd="sng" w="28575">
            <a:solidFill>
              <a:srgbClr val="0E7CB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65" name="Google Shape;65;p3"/>
          <p:cNvCxnSpPr/>
          <p:nvPr/>
        </p:nvCxnSpPr>
        <p:spPr>
          <a:xfrm flipH="1" rot="10800000">
            <a:off x="2493376" y="2974819"/>
            <a:ext cx="603600" cy="457200"/>
          </a:xfrm>
          <a:prstGeom prst="straightConnector1">
            <a:avLst/>
          </a:prstGeom>
          <a:noFill/>
          <a:ln cap="flat" cmpd="sng" w="28575">
            <a:solidFill>
              <a:srgbClr val="0E7CB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" name="Google Shape;66;p3"/>
          <p:cNvCxnSpPr/>
          <p:nvPr/>
        </p:nvCxnSpPr>
        <p:spPr>
          <a:xfrm>
            <a:off x="6528816" y="3249168"/>
            <a:ext cx="868800" cy="0"/>
          </a:xfrm>
          <a:prstGeom prst="straightConnector1">
            <a:avLst/>
          </a:prstGeom>
          <a:noFill/>
          <a:ln cap="flat" cmpd="sng" w="28575">
            <a:solidFill>
              <a:srgbClr val="0E7CB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7" name="Google Shape;67;p3"/>
          <p:cNvSpPr/>
          <p:nvPr/>
        </p:nvSpPr>
        <p:spPr>
          <a:xfrm>
            <a:off x="7443216" y="2334768"/>
            <a:ext cx="2880300" cy="1828800"/>
          </a:xfrm>
          <a:prstGeom prst="roundRect">
            <a:avLst>
              <a:gd fmla="val 4000" name="adj"/>
            </a:avLst>
          </a:prstGeom>
          <a:solidFill>
            <a:srgbClr val="E8F1F8"/>
          </a:solidFill>
          <a:ln cap="flat" cmpd="sng" w="19050">
            <a:solidFill>
              <a:srgbClr val="0137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7717536" y="271881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habit takes hold</a:t>
            </a:r>
            <a:endParaRPr b="1" i="0" sz="1800" u="none" cap="none" strike="noStrike">
              <a:solidFill>
                <a:srgbClr val="0E7C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7593924" y="3212550"/>
            <a:ext cx="2624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250"/>
              <a:buFont typeface="DM Sans"/>
              <a:buNone/>
            </a:pPr>
            <a:r>
              <a:rPr b="0" i="0" lang="en-US" sz="1200" u="none" cap="none" strike="noStrike">
                <a:solidFill>
                  <a:srgbClr val="013765"/>
                </a:solidFill>
                <a:latin typeface="DM Sans"/>
                <a:ea typeface="DM Sans"/>
                <a:cs typeface="DM Sans"/>
                <a:sym typeface="DM Sans"/>
              </a:rPr>
              <a:t>Naming causes becomes part of how a shift is run, and reaches the business to act 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166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200"/>
              <a:buFont typeface="DM Sans"/>
              <a:buNone/>
            </a:pPr>
            <a:r>
              <a:t/>
            </a:r>
            <a:endParaRPr b="0" i="0" sz="1200" u="none" cap="none" strike="noStrike">
              <a:solidFill>
                <a:srgbClr val="01376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691088" y="5742425"/>
            <a:ext cx="8809500" cy="676800"/>
          </a:xfrm>
          <a:prstGeom prst="roundRect">
            <a:avLst>
              <a:gd fmla="val 10811" name="adj"/>
            </a:avLst>
          </a:prstGeom>
          <a:solidFill>
            <a:srgbClr val="E8F1F8"/>
          </a:solidFill>
          <a:ln cap="flat" cmpd="sng" w="12700">
            <a:solidFill>
              <a:srgbClr val="E8F1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909685" y="5742425"/>
            <a:ext cx="83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DM Sans"/>
              <a:buNone/>
            </a:pPr>
            <a:r>
              <a:rPr b="0" i="0" lang="en-US" sz="3600" u="none" cap="none" strike="noStrike">
                <a:solidFill>
                  <a:srgbClr val="013765"/>
                </a:solidFill>
                <a:latin typeface="DM Sans"/>
                <a:ea typeface="DM Sans"/>
                <a:cs typeface="DM Sans"/>
                <a:sym typeface="DM Sans"/>
              </a:rPr>
              <a:t>&lt;9 minutes a week in-tool.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4"/>
          <p:cNvCxnSpPr/>
          <p:nvPr/>
        </p:nvCxnSpPr>
        <p:spPr>
          <a:xfrm>
            <a:off x="566928" y="429768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 txBox="1"/>
          <p:nvPr/>
        </p:nvSpPr>
        <p:spPr>
          <a:xfrm>
            <a:off x="859536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WORKS FOR A SHIFT SUPERVISOR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66928" y="609600"/>
            <a:ext cx="110577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2900"/>
              <a:buFont typeface="Plus Jakarta Sans ExtraBold"/>
              <a:buNone/>
            </a:pPr>
            <a:r>
              <a:rPr b="0" i="0" lang="en-US" sz="29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Three steps, and what each one looks like.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66925" y="1240525"/>
            <a:ext cx="3509100" cy="5427000"/>
          </a:xfrm>
          <a:prstGeom prst="roundRect">
            <a:avLst>
              <a:gd fmla="val 2085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03501" y="1352551"/>
            <a:ext cx="36600" cy="52032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41248" y="1459992"/>
            <a:ext cx="29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841248" y="1752600"/>
            <a:ext cx="29604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900"/>
              <a:buFont typeface="Plus Jakarta Sans ExtraBold"/>
              <a:buNone/>
            </a:pPr>
            <a:r>
              <a:rPr b="0" i="0" lang="en-US" sz="19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Set your baseline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841248" y="2132330"/>
            <a:ext cx="29604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7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A short survey, not a knowledge test. It gives the tool the context to make the activities relevant to you.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341275" y="1240521"/>
            <a:ext cx="3509100" cy="5427000"/>
          </a:xfrm>
          <a:prstGeom prst="roundRect">
            <a:avLst>
              <a:gd fmla="val 2085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377851" y="1352549"/>
            <a:ext cx="36600" cy="52032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615586" y="1459992"/>
            <a:ext cx="29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TWO - DURING ~12  WEEK SPRINTS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615586" y="1752600"/>
            <a:ext cx="29604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900"/>
              <a:buFont typeface="Plus Jakarta Sans ExtraBold"/>
              <a:buNone/>
            </a:pPr>
            <a:r>
              <a:rPr b="0" i="0" lang="en-US" sz="19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Prep, act, debrief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4615575" y="2132326"/>
            <a:ext cx="296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7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1-2x per week. A few minutes to prepare before the shift, the action itself on the job, then a short debrief.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115600" y="1240521"/>
            <a:ext cx="3509100" cy="5427000"/>
          </a:xfrm>
          <a:prstGeom prst="roundRect">
            <a:avLst>
              <a:gd fmla="val 2085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152176" y="1352549"/>
            <a:ext cx="36600" cy="5203200"/>
          </a:xfrm>
          <a:prstGeom prst="rect">
            <a:avLst/>
          </a:prstGeom>
          <a:solidFill>
            <a:srgbClr val="D3D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8389925" y="1459992"/>
            <a:ext cx="29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THREE - FOR THE BUSINESS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8389925" y="1752600"/>
            <a:ext cx="29604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900"/>
              <a:buFont typeface="Plus Jakarta Sans ExtraBold"/>
              <a:buNone/>
            </a:pPr>
            <a:r>
              <a:rPr b="0" i="0" lang="en-US" sz="19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See the results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8389925" y="2132330"/>
            <a:ext cx="29604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7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What supervisors did, what validators confirmed, how behaviors changed, and what things got in their way.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4" title="GG EHS Survey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46" y="3003825"/>
            <a:ext cx="2642616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" title="GG EHS Activity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0450" y="3003825"/>
            <a:ext cx="2591877" cy="347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" title="results-snapshot-portrait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1126" y="3013259"/>
            <a:ext cx="2591873" cy="3455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5"/>
          <p:cNvCxnSpPr/>
          <p:nvPr/>
        </p:nvCxnSpPr>
        <p:spPr>
          <a:xfrm>
            <a:off x="566928" y="548640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 txBox="1"/>
          <p:nvPr/>
        </p:nvSpPr>
        <p:spPr>
          <a:xfrm>
            <a:off x="859536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ACTIVITY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85216" y="813816"/>
            <a:ext cx="11036808" cy="1325880"/>
          </a:xfrm>
          <a:prstGeom prst="roundRect">
            <a:avLst>
              <a:gd fmla="val 5517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9224" y="896112"/>
            <a:ext cx="146304" cy="1161288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1234440" y="103327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PRACTICE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234440" y="1344168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6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01376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Naming the cause at each downtime event</a:t>
            </a:r>
            <a:endParaRPr b="1" i="0" sz="3000" u="none" cap="none" strike="noStrike">
              <a:solidFill>
                <a:srgbClr val="01376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66928" y="2514600"/>
            <a:ext cx="11055096" cy="3703320"/>
          </a:xfrm>
          <a:prstGeom prst="roundRect">
            <a:avLst>
              <a:gd fmla="val 1975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932688" y="2651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2600"/>
              <a:buFont typeface="Plus Jakarta Sans ExtraBold"/>
              <a:buNone/>
            </a:pPr>
            <a:r>
              <a:rPr b="0" i="0" lang="en-US" sz="26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Activity 1: Log one downtime event with its cause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32688" y="3310128"/>
            <a:ext cx="45720" cy="566928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152144" y="329184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400"/>
              <a:buFont typeface="DM Sans"/>
              <a:buNone/>
            </a:pPr>
            <a:r>
              <a:rPr b="0" i="1" lang="en-US" sz="1400" u="none" cap="none" strike="noStrike">
                <a:solidFill>
                  <a:srgbClr val="013765"/>
                </a:solidFill>
                <a:latin typeface="DM Sans"/>
                <a:ea typeface="DM Sans"/>
                <a:cs typeface="DM Sans"/>
                <a:sym typeface="DM Sans"/>
              </a:rPr>
              <a:t>At your next line stoppage, record what stopped, the cause in your own words, and the minutes lost.</a:t>
            </a:r>
            <a:endParaRPr b="0" i="1" sz="1400" u="none" cap="none" strike="noStrike">
              <a:solidFill>
                <a:srgbClr val="01376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15" name="Google Shape;115;p5"/>
          <p:cNvCxnSpPr/>
          <p:nvPr/>
        </p:nvCxnSpPr>
        <p:spPr>
          <a:xfrm>
            <a:off x="932688" y="4059936"/>
            <a:ext cx="10323576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"/>
          <p:cNvSpPr txBox="1"/>
          <p:nvPr/>
        </p:nvSpPr>
        <p:spPr>
          <a:xfrm>
            <a:off x="932688" y="4187952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1408176" y="4178808"/>
            <a:ext cx="15544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5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Prepare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099816" y="4178808"/>
            <a:ext cx="8156448" cy="578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The tool asks which line and shift, and which cause categories are already in use on the shift report.</a:t>
            </a:r>
            <a:endParaRPr b="0" i="1" sz="13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932688" y="4821682"/>
            <a:ext cx="10323576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5"/>
          <p:cNvSpPr txBox="1"/>
          <p:nvPr/>
        </p:nvSpPr>
        <p:spPr>
          <a:xfrm>
            <a:off x="932688" y="4949698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408176" y="4940554"/>
            <a:ext cx="15544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5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3099816" y="4940554"/>
            <a:ext cx="8156448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They </a:t>
            </a:r>
            <a:r>
              <a:rPr i="1" lang="en-US" sz="1300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engage with the next stoppage on the floor. Noticing, questioning the details of why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t/>
            </a:r>
            <a:endParaRPr b="0" i="0" sz="13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932688" y="5388610"/>
            <a:ext cx="10323576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 txBox="1"/>
          <p:nvPr/>
        </p:nvSpPr>
        <p:spPr>
          <a:xfrm>
            <a:off x="932688" y="5516626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2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408176" y="5507482"/>
            <a:ext cx="15544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5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Debrief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099816" y="5507482"/>
            <a:ext cx="8156448" cy="578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1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They report what they logged, what they could not categorize, and who they had to call.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t/>
            </a:r>
            <a:endParaRPr b="0" i="1" sz="130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932688" y="5997956"/>
            <a:ext cx="103236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566928" y="2148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566928" y="25603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5200"/>
              <a:buFont typeface="Plus Jakarta Sans ExtraBold"/>
              <a:buNone/>
            </a:pPr>
            <a:r>
              <a:rPr b="0" i="0" lang="en-US" sz="52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mini pilot.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66928" y="4114800"/>
            <a:ext cx="9966960" cy="451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Objectives, what we need from supervisors, what happens each day.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7"/>
          <p:cNvCxnSpPr/>
          <p:nvPr/>
        </p:nvCxnSpPr>
        <p:spPr>
          <a:xfrm>
            <a:off x="566928" y="1786578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7"/>
          <p:cNvSpPr txBox="1"/>
          <p:nvPr/>
        </p:nvSpPr>
        <p:spPr>
          <a:xfrm>
            <a:off x="859536" y="164941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RUN A MINI PILOT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66928" y="2079186"/>
            <a:ext cx="11057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000"/>
              <a:buFont typeface="Plus Jakarta Sans ExtraBold"/>
              <a:buNone/>
            </a:pPr>
            <a:r>
              <a:rPr b="0" i="0" lang="en-US" sz="3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Two goals.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66928" y="2923482"/>
            <a:ext cx="5368800" cy="2285100"/>
          </a:xfrm>
          <a:prstGeom prst="roundRect">
            <a:avLst>
              <a:gd fmla="val 3201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03504" y="3005778"/>
            <a:ext cx="36600" cy="21204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841248" y="3161226"/>
            <a:ext cx="482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841248" y="3472122"/>
            <a:ext cx="4820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2200"/>
              <a:buFont typeface="Plus Jakarta Sans ExtraBold"/>
              <a:buNone/>
            </a:pPr>
            <a:r>
              <a:rPr b="0" i="0" lang="en-US" sz="22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Validate the concept with users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841248" y="4092898"/>
            <a:ext cx="4820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Ensure buy-in from top supervisors that this would be a beneficial tool to support plant productivity goals in their workflow.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255868" y="2923482"/>
            <a:ext cx="5368800" cy="2285100"/>
          </a:xfrm>
          <a:prstGeom prst="roundRect">
            <a:avLst>
              <a:gd fmla="val 3201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292444" y="3005778"/>
            <a:ext cx="36600" cy="21204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530188" y="3161226"/>
            <a:ext cx="482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 TWO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6530188" y="3472122"/>
            <a:ext cx="48204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2200"/>
              <a:buFont typeface="Plus Jakarta Sans ExtraBold"/>
              <a:buNone/>
            </a:pPr>
            <a:r>
              <a:rPr b="0" i="0" lang="en-US" sz="22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Gather feedback for improvement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530188" y="4092898"/>
            <a:ext cx="4820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Identify areas for improvement with the content, flow, and communications around how the tool fits.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8"/>
          <p:cNvCxnSpPr/>
          <p:nvPr/>
        </p:nvCxnSpPr>
        <p:spPr>
          <a:xfrm>
            <a:off x="566928" y="1097280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8"/>
          <p:cNvSpPr txBox="1"/>
          <p:nvPr/>
        </p:nvSpPr>
        <p:spPr>
          <a:xfrm>
            <a:off x="859536" y="9601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SUPERVISOR'S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66928" y="1389888"/>
            <a:ext cx="11057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000"/>
              <a:buFont typeface="Plus Jakarta Sans ExtraBold"/>
              <a:buNone/>
            </a:pPr>
            <a:r>
              <a:rPr b="0" i="0" lang="en-US" sz="3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we’re asking supervisors to do.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835550" y="2395724"/>
            <a:ext cx="2565600" cy="3489300"/>
          </a:xfrm>
          <a:prstGeom prst="roundRect">
            <a:avLst>
              <a:gd fmla="val 2851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901029" y="2544593"/>
            <a:ext cx="36600" cy="31953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2109881" y="2633472"/>
            <a:ext cx="201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2033675" y="3020575"/>
            <a:ext cx="2199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6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Spend ~15 minutes in tool over 1 week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2043306" y="3884657"/>
            <a:ext cx="22662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00"/>
              <a:buFont typeface="DM Sans"/>
              <a:buNone/>
            </a:pPr>
            <a:r>
              <a:rPr b="0" i="0" lang="en-US" sz="15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A few minutes before the shift, a few minutes after. The action happens in work supervisors already 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818725" y="2395724"/>
            <a:ext cx="2565600" cy="3489300"/>
          </a:xfrm>
          <a:prstGeom prst="roundRect">
            <a:avLst>
              <a:gd fmla="val 2851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 flipH="1">
            <a:off x="4891890" y="2535817"/>
            <a:ext cx="36600" cy="31953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093035" y="2633472"/>
            <a:ext cx="201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093035" y="3096768"/>
            <a:ext cx="2016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600"/>
              <a:buFont typeface="Plus Jakarta Sans ExtraBold"/>
              <a:buNone/>
            </a:pPr>
            <a:r>
              <a:rPr b="0" i="0" lang="en-US" sz="2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Do ~3 activities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093035" y="3875024"/>
            <a:ext cx="20169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Use the tool as designed. Action the tasks on the job, in the flow of 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790525" y="2395724"/>
            <a:ext cx="2565600" cy="3489300"/>
          </a:xfrm>
          <a:prstGeom prst="roundRect">
            <a:avLst>
              <a:gd fmla="val 2851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 flipH="1">
            <a:off x="7863682" y="2534961"/>
            <a:ext cx="36600" cy="31953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8064835" y="2633472"/>
            <a:ext cx="201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8064835" y="2944368"/>
            <a:ext cx="2016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600"/>
              <a:buFont typeface="Plus Jakarta Sans ExtraBold"/>
              <a:buNone/>
            </a:pPr>
            <a:r>
              <a:rPr b="0" i="0" lang="en-US" sz="2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Provide honest feedback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8064835" y="3875024"/>
            <a:ext cx="20169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This makes the tool better for everyone else when we roll it out.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9"/>
          <p:cNvCxnSpPr/>
          <p:nvPr/>
        </p:nvCxnSpPr>
        <p:spPr>
          <a:xfrm>
            <a:off x="566928" y="2073729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9"/>
          <p:cNvSpPr txBox="1"/>
          <p:nvPr/>
        </p:nvSpPr>
        <p:spPr>
          <a:xfrm>
            <a:off x="859536" y="1936569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66928" y="2366337"/>
            <a:ext cx="11057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000"/>
              <a:buFont typeface="Plus Jakarta Sans ExtraBold"/>
              <a:buNone/>
            </a:pPr>
            <a:r>
              <a:rPr b="0" i="0" lang="en-US" sz="3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mini-pilot schedule.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566928" y="3197135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9"/>
          <p:cNvSpPr txBox="1"/>
          <p:nvPr/>
        </p:nvSpPr>
        <p:spPr>
          <a:xfrm>
            <a:off x="1042416" y="3316007"/>
            <a:ext cx="219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21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Day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3374136" y="3316007"/>
            <a:ext cx="8250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Launch call. First activity opens. Supervisors prep in the tool, then work the shift.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9"/>
          <p:cNvCxnSpPr/>
          <p:nvPr/>
        </p:nvCxnSpPr>
        <p:spPr>
          <a:xfrm>
            <a:off x="566928" y="377190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9"/>
          <p:cNvSpPr txBox="1"/>
          <p:nvPr/>
        </p:nvSpPr>
        <p:spPr>
          <a:xfrm>
            <a:off x="1042416" y="3890772"/>
            <a:ext cx="219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21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Days 2-7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3374136" y="3890772"/>
            <a:ext cx="8250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Supervisors run three activities on the job and debrief in the tool.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566928" y="4346666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 txBox="1"/>
          <p:nvPr/>
        </p:nvSpPr>
        <p:spPr>
          <a:xfrm>
            <a:off x="1042416" y="4465538"/>
            <a:ext cx="2194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21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Day 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3374136" y="4465538"/>
            <a:ext cx="8250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Debrief call with the supervisors to gather further feedback.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39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250"/>
              <a:buFont typeface="DM Sans"/>
              <a:buNone/>
            </a:pPr>
            <a:r>
              <a:t/>
            </a:r>
            <a:endParaRPr b="0" i="0" sz="1450" u="none" cap="none" strike="noStrike">
              <a:solidFill>
                <a:srgbClr val="5B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8" name="Google Shape;198;p9"/>
          <p:cNvCxnSpPr/>
          <p:nvPr/>
        </p:nvCxnSpPr>
        <p:spPr>
          <a:xfrm>
            <a:off x="566928" y="4921432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/>
        </p:nvSpPr>
        <p:spPr>
          <a:xfrm>
            <a:off x="566928" y="25328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2000"/>
              <a:buFont typeface="Plus Jakarta Sans"/>
              <a:buNone/>
            </a:pPr>
            <a:r>
              <a:rPr b="1" i="0" lang="en-US" sz="20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566928" y="2944368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5200"/>
              <a:buFont typeface="Plus Jakarta Sans ExtraBold"/>
              <a:buNone/>
            </a:pPr>
            <a:r>
              <a:rPr b="0" i="0" lang="en-US" sz="52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Next steps.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11"/>
          <p:cNvCxnSpPr/>
          <p:nvPr/>
        </p:nvCxnSpPr>
        <p:spPr>
          <a:xfrm>
            <a:off x="566928" y="1362516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1"/>
          <p:cNvSpPr/>
          <p:nvPr/>
        </p:nvSpPr>
        <p:spPr>
          <a:xfrm>
            <a:off x="859536" y="1225356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7-DAY PILOT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66928" y="1655124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100"/>
              <a:buFont typeface="Plus Jakarta Sans ExtraBold"/>
              <a:buNone/>
            </a:pPr>
            <a:r>
              <a:rPr b="0" i="0" lang="en-US" sz="36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Launch setup steps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66928" y="2478084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400"/>
              <a:buFont typeface="DM Sans"/>
              <a:buNone/>
            </a:pPr>
            <a:r>
              <a:rPr b="0" i="0" lang="en-US" sz="17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Four steps from scoping to kickoff.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66925" y="3529651"/>
            <a:ext cx="2613600" cy="2474700"/>
          </a:xfrm>
          <a:prstGeom prst="roundRect">
            <a:avLst>
              <a:gd fmla="val 3478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21792" y="3529644"/>
            <a:ext cx="2503800" cy="45600"/>
          </a:xfrm>
          <a:prstGeom prst="rect">
            <a:avLst/>
          </a:prstGeom>
          <a:solidFill>
            <a:srgbClr val="D3D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86384" y="3849684"/>
            <a:ext cx="224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0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 · 2 WEEKS BEFORE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86384" y="4450655"/>
            <a:ext cx="224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Train the coach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86384" y="4852476"/>
            <a:ext cx="2193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Complete scoping, then Flint trains the coach before launch.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162224" y="3529644"/>
            <a:ext cx="2013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800"/>
              <a:buFont typeface="DM Sans"/>
              <a:buNone/>
            </a:pPr>
            <a:r>
              <a:rPr b="0" i="0" lang="en-US" sz="2100" u="none" cap="none" strike="noStrike">
                <a:solidFill>
                  <a:srgbClr val="C7CFD8"/>
                </a:solidFill>
                <a:latin typeface="DM Sans"/>
                <a:ea typeface="DM Sans"/>
                <a:cs typeface="DM Sans"/>
                <a:sym typeface="DM Sans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381675" y="3255325"/>
            <a:ext cx="2613600" cy="2474700"/>
          </a:xfrm>
          <a:prstGeom prst="roundRect">
            <a:avLst>
              <a:gd fmla="val 3478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436544" y="3255324"/>
            <a:ext cx="2503800" cy="45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601136" y="3575364"/>
            <a:ext cx="224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0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 · LAUNCH PLANNING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601136" y="4176335"/>
            <a:ext cx="224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 the launch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601136" y="4578156"/>
            <a:ext cx="2193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Schedule the launch meeting with test users and their manager.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976976" y="3255324"/>
            <a:ext cx="2013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800"/>
              <a:buFont typeface="DM Sans"/>
              <a:buNone/>
            </a:pPr>
            <a:r>
              <a:rPr b="0" i="0" lang="en-US" sz="2100" u="none" cap="none" strike="noStrike">
                <a:solidFill>
                  <a:srgbClr val="C7CFD8"/>
                </a:solidFill>
                <a:latin typeface="DM Sans"/>
                <a:ea typeface="DM Sans"/>
                <a:cs typeface="DM Sans"/>
                <a:sym typeface="DM Sans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196425" y="2980999"/>
            <a:ext cx="2613600" cy="2474700"/>
          </a:xfrm>
          <a:prstGeom prst="roundRect">
            <a:avLst>
              <a:gd fmla="val 3478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251296" y="2981004"/>
            <a:ext cx="2503800" cy="456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15888" y="3301044"/>
            <a:ext cx="224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0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 · SYSTEM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415888" y="3902015"/>
            <a:ext cx="224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Give 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415888" y="4303836"/>
            <a:ext cx="2193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Share the list of test users and managers; confirm IT access.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791727" y="2981004"/>
            <a:ext cx="2013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FD8"/>
              </a:buClr>
              <a:buSzPts val="1800"/>
              <a:buFont typeface="DM Sans"/>
              <a:buNone/>
            </a:pPr>
            <a:r>
              <a:rPr b="0" i="0" lang="en-US" sz="2100" u="none" cap="none" strike="noStrike">
                <a:solidFill>
                  <a:srgbClr val="C7CFD8"/>
                </a:solidFill>
                <a:latin typeface="DM Sans"/>
                <a:ea typeface="DM Sans"/>
                <a:cs typeface="DM Sans"/>
                <a:sym typeface="DM Sans"/>
              </a:rPr>
              <a:t>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9011175" y="2706675"/>
            <a:ext cx="2613600" cy="2474700"/>
          </a:xfrm>
          <a:prstGeom prst="roundRect">
            <a:avLst>
              <a:gd fmla="val 3478" name="adj"/>
            </a:avLst>
          </a:prstGeom>
          <a:solidFill>
            <a:srgbClr val="F2F5F8"/>
          </a:solidFill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9066047" y="2706684"/>
            <a:ext cx="2503800" cy="45600"/>
          </a:xfrm>
          <a:prstGeom prst="rect">
            <a:avLst/>
          </a:prstGeom>
          <a:solidFill>
            <a:srgbClr val="0137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9230639" y="3026724"/>
            <a:ext cx="224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0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 · KICKOFF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9230639" y="3627695"/>
            <a:ext cx="224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Launch meeting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9230639" y="4029516"/>
            <a:ext cx="2193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150"/>
              <a:buFont typeface="DM Sans"/>
              <a:buNone/>
            </a:pPr>
            <a:r>
              <a:rPr b="0" i="0" lang="en-US" sz="145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Test users and manager start in the tool.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12"/>
          <p:cNvCxnSpPr/>
          <p:nvPr/>
        </p:nvCxnSpPr>
        <p:spPr>
          <a:xfrm>
            <a:off x="566928" y="1798320"/>
            <a:ext cx="201300" cy="0"/>
          </a:xfrm>
          <a:prstGeom prst="straightConnector1">
            <a:avLst/>
          </a:prstGeom>
          <a:noFill/>
          <a:ln cap="flat" cmpd="sng" w="17775">
            <a:solidFill>
              <a:srgbClr val="0E7C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2"/>
          <p:cNvSpPr txBox="1"/>
          <p:nvPr/>
        </p:nvSpPr>
        <p:spPr>
          <a:xfrm>
            <a:off x="859536" y="16611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100"/>
              <a:buFont typeface="Plus Jakarta Sans"/>
              <a:buNone/>
            </a:pPr>
            <a:r>
              <a:rPr b="1" i="0" lang="en-US" sz="11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66928" y="2090928"/>
            <a:ext cx="11057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3000"/>
              <a:buFont typeface="Plus Jakarta Sans ExtraBold"/>
              <a:buNone/>
            </a:pPr>
            <a:r>
              <a:rPr b="0" i="0" lang="en-US" sz="30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What we need from you.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2"/>
          <p:cNvCxnSpPr/>
          <p:nvPr/>
        </p:nvCxnSpPr>
        <p:spPr>
          <a:xfrm>
            <a:off x="566928" y="303276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2"/>
          <p:cNvSpPr txBox="1"/>
          <p:nvPr/>
        </p:nvSpPr>
        <p:spPr>
          <a:xfrm>
            <a:off x="566928" y="3160776"/>
            <a:ext cx="47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1042425" y="3151650"/>
            <a:ext cx="3166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Nominate top supervisors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4196125" y="3151640"/>
            <a:ext cx="7733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A handful, with their email addresses and validator association.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2"/>
          <p:cNvCxnSpPr/>
          <p:nvPr/>
        </p:nvCxnSpPr>
        <p:spPr>
          <a:xfrm>
            <a:off x="566928" y="362712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2"/>
          <p:cNvSpPr txBox="1"/>
          <p:nvPr/>
        </p:nvSpPr>
        <p:spPr>
          <a:xfrm>
            <a:off x="566928" y="3831336"/>
            <a:ext cx="47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2"/>
          <p:cNvCxnSpPr/>
          <p:nvPr/>
        </p:nvCxnSpPr>
        <p:spPr>
          <a:xfrm>
            <a:off x="566928" y="429768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2"/>
          <p:cNvSpPr txBox="1"/>
          <p:nvPr/>
        </p:nvSpPr>
        <p:spPr>
          <a:xfrm>
            <a:off x="566928" y="4425696"/>
            <a:ext cx="47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B8"/>
              </a:buClr>
              <a:buSzPts val="12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0E7C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1042416" y="3806952"/>
            <a:ext cx="2377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Book a launch 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4195975" y="3838965"/>
            <a:ext cx="77337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Thirty minutes, run by Flint with the DMs present.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2"/>
          <p:cNvCxnSpPr/>
          <p:nvPr/>
        </p:nvCxnSpPr>
        <p:spPr>
          <a:xfrm>
            <a:off x="566928" y="4892040"/>
            <a:ext cx="11057700" cy="0"/>
          </a:xfrm>
          <a:prstGeom prst="straightConnector1">
            <a:avLst/>
          </a:prstGeom>
          <a:noFill/>
          <a:ln cap="flat" cmpd="sng" w="12700">
            <a:solidFill>
              <a:srgbClr val="D3DA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2"/>
          <p:cNvSpPr txBox="1"/>
          <p:nvPr/>
        </p:nvSpPr>
        <p:spPr>
          <a:xfrm>
            <a:off x="1042426" y="4416540"/>
            <a:ext cx="2608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13765"/>
              </a:buClr>
              <a:buSzPts val="1500"/>
              <a:buFont typeface="Plus Jakarta Sans ExtraBold"/>
              <a:buNone/>
            </a:pPr>
            <a:r>
              <a:rPr b="0" i="0" lang="en-US" sz="1800" u="none" cap="none" strike="noStrike">
                <a:solidFill>
                  <a:srgbClr val="01376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Emphasize importance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4195975" y="4452031"/>
            <a:ext cx="77337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5B6A7A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5B6A7A"/>
                </a:solidFill>
                <a:latin typeface="DM Sans"/>
                <a:ea typeface="DM Sans"/>
                <a:cs typeface="DM Sans"/>
                <a:sym typeface="DM Sans"/>
              </a:rPr>
              <a:t>Help us ensure supervisors engage as intended during the mini-pilot.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274320"/>
            <a:ext cx="1097280" cy="1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